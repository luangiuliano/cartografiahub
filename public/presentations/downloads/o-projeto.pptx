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403" r:id="rId3"/>
    <p:sldId id="388" r:id="rId4"/>
    <p:sldId id="40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4AF2C-C36C-40B4-AC95-3886F58C62A3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D7E11-2ED3-4970-B461-8735076E68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99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6AFD53-FF0C-4D1C-8C9F-874519EDB25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419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AF0AC-0BCC-F82C-74E9-17492A2A6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044CE9-E58B-72DB-7AB5-C7078699E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B4E0E6-305C-4A83-6C29-2671EF9F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7E95B6-5A57-BBA7-0B26-0D7A569B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E627FA-8F33-F18E-F47F-BE5243E81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19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9461F-AA02-6413-6938-A0C8E7AD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77B4B-E56B-889F-C9E3-5D38CCF91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A1D7BB-DCCD-882C-320A-27218C7F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5096E-1ACE-9044-FD32-FF2C2E39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CC2AA2-D95A-C6E0-2DF3-57B83BAB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722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C14D5-1609-A6F8-27D4-88D59DD1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0B03C9-644A-2105-EFE5-08F463A3F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36A132-376F-20BE-42FE-85820D6B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1CE8D7-13B0-B9AF-B6D5-FA848A72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A83CD5-8537-5AEE-252C-C55E7C17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68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7C30D-A9F6-739B-787C-11EF2E8E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FD5F7B-609A-CC71-9CEC-E7EC7F400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8A870D-F63A-9F49-A347-A849B436D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822168-99AB-850F-5E5F-2845BF09D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08E940-73E9-DA5A-BDA5-3E160A4A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2ABD67-BBF4-7673-AA1A-CA0104C8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41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1953E-55D2-B026-E6DD-4017C284E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3388F0-EDA3-6CEA-57AD-0C746A34E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063BA0-597D-5E4C-12C4-C40F568C4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C7B745-A588-C96F-D712-86EDB5594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BAFC14-3E1C-2139-532A-06AF299D7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3041E1-C30A-9BC1-444D-E80FD6ADD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90E649-F432-1318-8663-9182D722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BE9174-80BF-DE28-0F1A-6E7EEC75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E31AC-69D6-AC29-5B9B-B011AC34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6A1C12-7923-CDDA-57B1-3EE51BD3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84B3E7-1354-45D7-AE76-3706D3B9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563DCE-C674-76BE-B2FF-5B941401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99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787363-ACB9-D14F-017F-0D3F53FD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B650CB5-CC62-092E-708A-A306D4B8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AFE89E-2118-A28F-1E36-DD9FB8DE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50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F5610-84C7-6649-A81D-038BA9A93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8E1835-8733-FECD-0B66-600730B3A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BD07E5-EDA3-9AB6-DA5C-5E7889E69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D66E36-8C1C-5580-9AA9-452C6A71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2FD4DC-D646-A50A-82B2-73727733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EA27BC-C2BC-011E-A45B-E6DD352A7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74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1E34D-5F60-E3D5-BAB8-55732CFB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41D4BAC-0B12-A8EC-2975-F4475590FA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D23BB3-E385-8EB4-C04E-ED001A24F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EA64BE-BE11-1DAF-BCC0-417B93C7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0130BA-0A4B-A19C-B2A4-381036E1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7B8D67-F0AA-A2F4-766F-FA55DA6C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806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61D17-D802-ACFA-C618-FBF91E5E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465E2B-1846-E7E2-7EE2-EE9B06DE4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9C5115-4AE6-2F45-F894-54C28376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3AA98D-F3DE-6AB2-951B-7B994A22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492FB0-E51F-F43A-5BE2-4813D8DF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8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A4652A-D30A-9493-3C70-1FFA962C9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64CA71-E388-6873-F28D-AC5D5960A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C75AA5-01DF-5A83-D956-0513AB5A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9BA136-933A-48D1-0BE2-6630D3A0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B032F5-25D7-9FFF-998B-BF578166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372637-1DD5-3DCC-15D1-321E7314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68BAAA-CCCB-3ACE-C6C2-9907012A6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A45985-B5DF-52C8-2836-C0C2D716C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39745-F3EE-4823-8233-2897ED5EE61A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552FB8-D854-72FA-DE5F-88E06E7F6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AAE654-CB39-6EA4-8F64-5CFA29324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54E38-04F0-438E-9535-FC6265070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80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469ED563-A549-8148-97A3-2A85924A9D0B}"/>
              </a:ext>
            </a:extLst>
          </p:cNvPr>
          <p:cNvGrpSpPr/>
          <p:nvPr/>
        </p:nvGrpSpPr>
        <p:grpSpPr>
          <a:xfrm>
            <a:off x="0" y="28575"/>
            <a:ext cx="12192000" cy="680085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D634BD33-8D68-BED3-E415-C616544A6D19}"/>
                </a:ext>
              </a:extLst>
            </p:cNvPr>
            <p:cNvGrpSpPr/>
            <p:nvPr/>
          </p:nvGrpSpPr>
          <p:grpSpPr>
            <a:xfrm>
              <a:off x="6908800" y="350667"/>
              <a:ext cx="2133600" cy="2673235"/>
              <a:chOff x="6908800" y="350667"/>
              <a:chExt cx="2133600" cy="2673235"/>
            </a:xfrm>
          </p:grpSpPr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D0A6A68-4FE7-F94A-4221-F2FD8EC7D82B}"/>
                  </a:ext>
                </a:extLst>
              </p:cNvPr>
              <p:cNvSpPr txBox="1"/>
              <p:nvPr/>
            </p:nvSpPr>
            <p:spPr>
              <a:xfrm>
                <a:off x="7327900" y="772884"/>
                <a:ext cx="1600200" cy="400109"/>
              </a:xfrm>
              <a:prstGeom prst="rect">
                <a:avLst/>
              </a:prstGeom>
              <a:solidFill>
                <a:srgbClr val="F4F3EC"/>
              </a:solidFill>
            </p:spPr>
            <p:txBody>
              <a:bodyPr wrap="square" rtlCol="0">
                <a:spAutoFit/>
              </a:bodyPr>
              <a:lstStyle/>
              <a:p>
                <a:endParaRPr lang="pt-BR" sz="1350" dirty="0"/>
              </a:p>
            </p:txBody>
          </p:sp>
          <p:pic>
            <p:nvPicPr>
              <p:cNvPr id="3" name="Imagem 2" descr="Desenho de personagem de desenho animado&#10;&#10;Descrição gerada automaticamente com confiança média">
                <a:extLst>
                  <a:ext uri="{FF2B5EF4-FFF2-40B4-BE49-F238E27FC236}">
                    <a16:creationId xmlns:a16="http://schemas.microsoft.com/office/drawing/2014/main" id="{53C37F9A-2C0C-D499-0022-DF1D0A6DD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08800" y="350667"/>
                <a:ext cx="2133600" cy="267323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700B283-5BCF-2829-43C4-AAF6B8FC5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01"/>
            <a:ext cx="12192000" cy="1118507"/>
          </a:xfrm>
          <a:prstGeom prst="rect">
            <a:avLst/>
          </a:prstGeom>
        </p:spPr>
      </p:pic>
      <p:sp>
        <p:nvSpPr>
          <p:cNvPr id="4" name="Google Shape;78;p1">
            <a:extLst>
              <a:ext uri="{FF2B5EF4-FFF2-40B4-BE49-F238E27FC236}">
                <a16:creationId xmlns:a16="http://schemas.microsoft.com/office/drawing/2014/main" id="{1BD276DE-7371-CD19-8D8C-C2B05B479DB7}"/>
              </a:ext>
            </a:extLst>
          </p:cNvPr>
          <p:cNvSpPr/>
          <p:nvPr/>
        </p:nvSpPr>
        <p:spPr>
          <a:xfrm>
            <a:off x="266700" y="-102851"/>
            <a:ext cx="4072346" cy="81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91425" rIns="0" bIns="0" anchor="t" anchorCtr="0">
            <a:noAutofit/>
          </a:bodyPr>
          <a:lstStyle/>
          <a:p>
            <a:pPr defTabSz="914378">
              <a:lnSpc>
                <a:spcPct val="115000"/>
              </a:lnSpc>
              <a:defRPr/>
            </a:pPr>
            <a:r>
              <a:rPr lang="pt-BR" sz="4050" b="1" i="1" dirty="0">
                <a:solidFill>
                  <a:srgbClr val="002060"/>
                </a:solidFill>
                <a:latin typeface="Aptos" panose="02110004020202020204"/>
              </a:rPr>
              <a:t>APRESENTAÇÃO</a:t>
            </a:r>
            <a:endParaRPr lang="pt-BR" sz="2100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17BF2C-78D5-C7AC-6CB7-B86AA4231E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24493"/>
            <a:ext cx="12192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3135147-A2EA-8D2C-BC9B-98037A3EEA81}"/>
              </a:ext>
            </a:extLst>
          </p:cNvPr>
          <p:cNvSpPr txBox="1"/>
          <p:nvPr/>
        </p:nvSpPr>
        <p:spPr>
          <a:xfrm>
            <a:off x="291737" y="711945"/>
            <a:ext cx="11772900" cy="493981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500" dirty="0">
                <a:latin typeface="Aptos" panose="020B0004020202020204" pitchFamily="34" charset="0"/>
              </a:rPr>
              <a:t>	O Projeto “Cartografia de Saberes” surgiu da necessidade de mapear, analisar e sistematizar os saberes, competências, perfis e percepções dos servidores da Secretaria Adjunta de Gestão de Pessoas (SAGEP), a fim de transformar dados dispersos em inteligência organizacional; promover o desenvolvimento profissional alinhado às demandas institucionais e orientar decisões de estratégicas de governança para a melhoria organizacional. </a:t>
            </a:r>
          </a:p>
          <a:p>
            <a:pPr algn="just"/>
            <a:r>
              <a:rPr lang="pt-BR" sz="1500" dirty="0">
                <a:latin typeface="Aptos" panose="020B0004020202020204" pitchFamily="34" charset="0"/>
              </a:rPr>
              <a:t>	Nesse sentido, o projeto </a:t>
            </a:r>
            <a:r>
              <a:rPr lang="pt-BR" sz="1500" b="1" dirty="0">
                <a:latin typeface="Aptos" panose="020B0004020202020204" pitchFamily="34" charset="0"/>
              </a:rPr>
              <a:t>sistematiza informações estratégicas sobre o capital humano da Secretaria Adjunta de Gestão de Pessoas</a:t>
            </a:r>
            <a:r>
              <a:rPr lang="pt-BR" sz="1500" dirty="0">
                <a:latin typeface="Aptos" panose="020B0004020202020204" pitchFamily="34" charset="0"/>
              </a:rPr>
              <a:t>, incluindo perfil funcional, formação acadêmica, competências, percepção institucional e necessidades formativas. Trata-se de um projeto institucional robusto, com foco em diagnóstico, planejamento estratégico e desenvolvimento de pessoas. É importante ressaltar que no âmbito da administração pública a ausência de um mapeamento estruturado compromete: o planejamento baseado em evidências; a alocação eficiente de talentos; a formulação de políticas de desempenho e desenvolvimento profissional. </a:t>
            </a:r>
          </a:p>
          <a:p>
            <a:pPr algn="just"/>
            <a:r>
              <a:rPr lang="pt-BR" sz="1500" dirty="0">
                <a:latin typeface="Aptos" panose="020B0004020202020204" pitchFamily="34" charset="0"/>
              </a:rPr>
              <a:t>	A “</a:t>
            </a:r>
            <a:r>
              <a:rPr lang="pt-BR" sz="1500" b="1" i="1" dirty="0">
                <a:latin typeface="Aptos" panose="020B0004020202020204" pitchFamily="34" charset="0"/>
              </a:rPr>
              <a:t>Cartografia de Saberes”</a:t>
            </a:r>
            <a:r>
              <a:rPr lang="pt-BR" sz="1500" dirty="0">
                <a:latin typeface="Aptos" panose="020B0004020202020204" pitchFamily="34" charset="0"/>
              </a:rPr>
              <a:t> se apresenta como ferramenta estratégica, como geradora de boas práticas de administração pública, governança de pessoas e políticas educacionais para:</a:t>
            </a:r>
          </a:p>
          <a:p>
            <a:pPr marL="600075" lvl="1" indent="-257175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Aptos" panose="020B0004020202020204" pitchFamily="34" charset="0"/>
              </a:rPr>
              <a:t>transformar dados dispersos em inteligência organizacional; </a:t>
            </a:r>
          </a:p>
          <a:p>
            <a:pPr marL="600075" lvl="1" indent="-257175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Aptos" panose="020B0004020202020204" pitchFamily="34" charset="0"/>
              </a:rPr>
              <a:t>orientar decisões de gestão de pessoas; </a:t>
            </a:r>
          </a:p>
          <a:p>
            <a:pPr marL="600075" lvl="1" indent="-257175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Aptos" panose="020B0004020202020204" pitchFamily="34" charset="0"/>
              </a:rPr>
              <a:t>promover desenvolvimento profissional alinhado às demandas institucionais.</a:t>
            </a:r>
          </a:p>
          <a:p>
            <a:pPr algn="just"/>
            <a:r>
              <a:rPr lang="pt-BR" sz="1500" dirty="0">
                <a:latin typeface="Aptos" panose="020B0004020202020204" pitchFamily="34" charset="0"/>
              </a:rPr>
              <a:t>	O Projeto teve como ponto de partida o Gabinete da Secretaria Adjunta de Gestão de Pessoas e, em seguida, contemplou as demais Diretorias e Coordenadorias. A partir daí foi criada a ferramenta para gestão de processos no PAE, denominada SIRA (Sistema Inteligente de Rastreabilidade Administrativa) que é uma plataforma analítica de alta performance desenvolvida pela Secretaria de Estado de Educação por meio da Secretaria Adjunta de Pessoas (SAGEP), com o objetivo principal de fomentar a celeridade ao ciclo de vida dos processos na Secretaria, permitindo aos gestores identifiquem </a:t>
            </a:r>
            <a:r>
              <a:rPr lang="pt-BR" sz="1500" b="1" dirty="0">
                <a:latin typeface="Aptos" panose="020B0004020202020204" pitchFamily="34" charset="0"/>
              </a:rPr>
              <a:t>gargalos operacionais, acúmulo de demandas e métricas de desempenho.</a:t>
            </a:r>
          </a:p>
          <a:p>
            <a:pPr algn="just"/>
            <a:r>
              <a:rPr lang="pt-BR" sz="1500" b="1" dirty="0">
                <a:latin typeface="Aptos" panose="020B0004020202020204" pitchFamily="34" charset="0"/>
              </a:rPr>
              <a:t>	Atualmente o projeto avança com a implementação do Plano de Desenvolvimento Institucional (PDI) em todas as Diretorias e Coordenadorias da SAGEP.</a:t>
            </a:r>
            <a:endParaRPr lang="pt-BR" sz="15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7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37106-0B44-4208-A804-87B16DCA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0D390C36-319F-7AF6-EEFC-94CA21E9191B}"/>
              </a:ext>
            </a:extLst>
          </p:cNvPr>
          <p:cNvGrpSpPr/>
          <p:nvPr/>
        </p:nvGrpSpPr>
        <p:grpSpPr>
          <a:xfrm>
            <a:off x="0" y="28575"/>
            <a:ext cx="12192000" cy="6800850"/>
            <a:chOff x="0" y="38100"/>
            <a:chExt cx="16256000" cy="9067800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1E6849FF-A5EE-0230-EFAF-DB26D9BD3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10108B3E-E858-1B1C-C0FD-E9AF75DC78D9}"/>
                </a:ext>
              </a:extLst>
            </p:cNvPr>
            <p:cNvGrpSpPr/>
            <p:nvPr/>
          </p:nvGrpSpPr>
          <p:grpSpPr>
            <a:xfrm>
              <a:off x="6908800" y="350667"/>
              <a:ext cx="2133600" cy="2673235"/>
              <a:chOff x="6908800" y="350667"/>
              <a:chExt cx="2133600" cy="2673235"/>
            </a:xfrm>
          </p:grpSpPr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75E63B5-6CAB-95D2-B5DF-1FD08B405E46}"/>
                  </a:ext>
                </a:extLst>
              </p:cNvPr>
              <p:cNvSpPr txBox="1"/>
              <p:nvPr/>
            </p:nvSpPr>
            <p:spPr>
              <a:xfrm>
                <a:off x="7327900" y="772884"/>
                <a:ext cx="1600200" cy="400109"/>
              </a:xfrm>
              <a:prstGeom prst="rect">
                <a:avLst/>
              </a:prstGeom>
              <a:solidFill>
                <a:srgbClr val="F4F3EC"/>
              </a:solidFill>
            </p:spPr>
            <p:txBody>
              <a:bodyPr wrap="square" rtlCol="0">
                <a:spAutoFit/>
              </a:bodyPr>
              <a:lstStyle/>
              <a:p>
                <a:endParaRPr lang="pt-BR" sz="1350" dirty="0"/>
              </a:p>
            </p:txBody>
          </p:sp>
          <p:pic>
            <p:nvPicPr>
              <p:cNvPr id="3" name="Imagem 2" descr="Desenho de personagem de desenho animado&#10;&#10;Descrição gerada automaticamente com confiança média">
                <a:extLst>
                  <a:ext uri="{FF2B5EF4-FFF2-40B4-BE49-F238E27FC236}">
                    <a16:creationId xmlns:a16="http://schemas.microsoft.com/office/drawing/2014/main" id="{3DE94070-A103-17EC-3DC3-A0248BF57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08800" y="350667"/>
                <a:ext cx="2133600" cy="2673235"/>
              </a:xfrm>
              <a:prstGeom prst="rect">
                <a:avLst/>
              </a:prstGeom>
            </p:spPr>
          </p:pic>
        </p:grp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BECF30B-21E0-9F2D-C198-BB677F85000A}"/>
              </a:ext>
            </a:extLst>
          </p:cNvPr>
          <p:cNvSpPr/>
          <p:nvPr/>
        </p:nvSpPr>
        <p:spPr>
          <a:xfrm>
            <a:off x="3965105" y="3600450"/>
            <a:ext cx="5944577" cy="530915"/>
          </a:xfrm>
          <a:prstGeom prst="rect">
            <a:avLst/>
          </a:prstGeom>
          <a:solidFill>
            <a:srgbClr val="FBFAF7"/>
          </a:solidFill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pt-BR" sz="3000" spc="1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 Pro Black" panose="02040A02050405020203" pitchFamily="18" charset="0"/>
              </a:rPr>
              <a:t>ESCOPO E DIAGNÓSTICO</a:t>
            </a:r>
          </a:p>
        </p:txBody>
      </p:sp>
    </p:spTree>
    <p:extLst>
      <p:ext uri="{BB962C8B-B14F-4D97-AF65-F5344CB8AC3E}">
        <p14:creationId xmlns:p14="http://schemas.microsoft.com/office/powerpoint/2010/main" val="1404094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8824"/>
          <a:stretch>
            <a:fillRect/>
          </a:stretch>
        </p:blipFill>
        <p:spPr>
          <a:xfrm>
            <a:off x="0" y="28575"/>
            <a:ext cx="12192000" cy="68294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B7C5568-1AFC-8572-12F2-E32CCF5A89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6000750"/>
            <a:ext cx="3158071" cy="541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352</Words>
  <Application>Microsoft Office PowerPoint</Application>
  <PresentationFormat>Widescreen</PresentationFormat>
  <Paragraphs>11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Georgia Pro Black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Paes</dc:creator>
  <cp:lastModifiedBy>Augusto Paes</cp:lastModifiedBy>
  <cp:revision>1</cp:revision>
  <dcterms:created xsi:type="dcterms:W3CDTF">2026-10-08T18:19:55Z</dcterms:created>
  <dcterms:modified xsi:type="dcterms:W3CDTF">2026-10-08T18:22:42Z</dcterms:modified>
</cp:coreProperties>
</file>